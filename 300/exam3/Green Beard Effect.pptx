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 id="272" r:id="rId17"/>
    <p:sldId id="271"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7010400" y="2052960"/>
            <a:ext cx="1981200" cy="1828800"/>
          </a:xfrm>
        </p:spPr>
        <p:txBody>
          <a:bodyPr anchor="ctr">
            <a:normAutofit/>
          </a:bodyPr>
          <a:lstStyle>
            <a:lvl1pPr marL="0" indent="0" algn="l">
              <a:buNone/>
              <a:defRPr sz="19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0" name="Date Placeholder 9"/>
          <p:cNvSpPr>
            <a:spLocks noGrp="1"/>
          </p:cNvSpPr>
          <p:nvPr>
            <p:ph type="dt" sz="half" idx="10"/>
          </p:nvPr>
        </p:nvSpPr>
        <p:spPr/>
        <p:txBody>
          <a:bodyPr/>
          <a:lstStyle>
            <a:lvl1pPr>
              <a:defRPr>
                <a:solidFill>
                  <a:schemeClr val="bg2"/>
                </a:solidFill>
              </a:defRPr>
            </a:lvl1pPr>
          </a:lstStyle>
          <a:p>
            <a:fld id="{64B6BB47-3781-4863-80A3-4984594B5814}" type="datetimeFigureOut">
              <a:rPr lang="en-US" smtClean="0"/>
              <a:t>5/6/2016</a:t>
            </a:fld>
            <a:endParaRPr lang="en-US"/>
          </a:p>
        </p:txBody>
      </p:sp>
      <p:sp>
        <p:nvSpPr>
          <p:cNvPr id="11" name="Slide Number Placeholder 10"/>
          <p:cNvSpPr>
            <a:spLocks noGrp="1"/>
          </p:cNvSpPr>
          <p:nvPr>
            <p:ph type="sldNum" sz="quarter" idx="11"/>
          </p:nvPr>
        </p:nvSpPr>
        <p:spPr/>
        <p:txBody>
          <a:bodyPr/>
          <a:lstStyle>
            <a:lvl1pPr>
              <a:defRPr>
                <a:solidFill>
                  <a:srgbClr val="FFFFFF"/>
                </a:solidFill>
              </a:defRPr>
            </a:lvl1pPr>
          </a:lstStyle>
          <a:p>
            <a:fld id="{E993C772-3588-4B46-8C40-C50AE3703551}" type="slidenum">
              <a:rPr lang="en-US" smtClean="0"/>
              <a:t>‹#›</a:t>
            </a:fld>
            <a:endParaRPr lang="en-US"/>
          </a:p>
        </p:txBody>
      </p:sp>
      <p:sp>
        <p:nvSpPr>
          <p:cNvPr id="12" name="Footer Placeholder 11"/>
          <p:cNvSpPr>
            <a:spLocks noGrp="1"/>
          </p:cNvSpPr>
          <p:nvPr>
            <p:ph type="ftr" sz="quarter" idx="12"/>
          </p:nvPr>
        </p:nvSpPr>
        <p:spPr/>
        <p:txBody>
          <a:bodyPr/>
          <a:lstStyle>
            <a:lvl1pPr>
              <a:defRPr>
                <a:solidFill>
                  <a:schemeClr val="bg2"/>
                </a:solidFill>
              </a:defRPr>
            </a:lvl1pPr>
          </a:lstStyle>
          <a:p>
            <a:endParaRPr lang="en-US"/>
          </a:p>
        </p:txBody>
      </p:sp>
      <p:sp>
        <p:nvSpPr>
          <p:cNvPr id="13" name="Title 12"/>
          <p:cNvSpPr>
            <a:spLocks noGrp="1"/>
          </p:cNvSpPr>
          <p:nvPr>
            <p:ph type="title"/>
          </p:nvPr>
        </p:nvSpPr>
        <p:spPr>
          <a:xfrm>
            <a:off x="457200" y="2052960"/>
            <a:ext cx="6324600" cy="1828800"/>
          </a:xfrm>
        </p:spPr>
        <p:txBody>
          <a:bodyPr/>
          <a:lstStyle>
            <a:lvl1pPr algn="r">
              <a:defRPr sz="4200" spc="150" baseline="0"/>
            </a:lvl1pPr>
          </a:lstStyle>
          <a:p>
            <a:r>
              <a:rPr lang="en-US" smtClean="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4B6BB47-3781-4863-80A3-4984594B5814}" type="datetimeFigureOut">
              <a:rPr lang="en-US" smtClean="0"/>
              <a:t>5/6/2016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93C772-3588-4B46-8C40-C50AE3703551}" type="slidenum">
              <a:rPr lang="en-US" smtClean="0"/>
              <a:t>‹#›</a:t>
            </a:fld>
            <a:endParaRPr lang="en-US"/>
          </a:p>
        </p:txBody>
      </p:sp>
      <p:sp>
        <p:nvSpPr>
          <p:cNvPr id="7" name="Title 6"/>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162799" y="2892277"/>
            <a:ext cx="1600201" cy="1645920"/>
          </a:xfrm>
        </p:spPr>
        <p:txBody>
          <a:bodyPr anchor="ctr"/>
          <a:lstStyle>
            <a:lvl1pPr marL="0" indent="0">
              <a:buNone/>
              <a:defRPr sz="20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9" name="Date Placeholder 8"/>
          <p:cNvSpPr>
            <a:spLocks noGrp="1"/>
          </p:cNvSpPr>
          <p:nvPr>
            <p:ph type="dt" sz="half" idx="10"/>
          </p:nvPr>
        </p:nvSpPr>
        <p:spPr/>
        <p:txBody>
          <a:bodyPr/>
          <a:lstStyle>
            <a:lvl1pPr>
              <a:defRPr>
                <a:solidFill>
                  <a:srgbClr val="FFFFFF"/>
                </a:solidFill>
              </a:defRPr>
            </a:lvl1pPr>
          </a:lstStyle>
          <a:p>
            <a:fld id="{64B6BB47-3781-4863-80A3-4984594B5814}" type="datetimeFigureOut">
              <a:rPr lang="en-US" smtClean="0"/>
              <a:t>5/6/2016</a:t>
            </a:fld>
            <a:endParaRPr lang="en-US"/>
          </a:p>
        </p:txBody>
      </p:sp>
      <p:sp>
        <p:nvSpPr>
          <p:cNvPr id="10" name="Slide Number Placeholder 9"/>
          <p:cNvSpPr>
            <a:spLocks noGrp="1"/>
          </p:cNvSpPr>
          <p:nvPr>
            <p:ph type="sldNum" sz="quarter" idx="11"/>
          </p:nvPr>
        </p:nvSpPr>
        <p:spPr/>
        <p:txBody>
          <a:bodyPr/>
          <a:lstStyle>
            <a:lvl1pPr>
              <a:defRPr>
                <a:solidFill>
                  <a:schemeClr val="bg2"/>
                </a:solidFill>
              </a:defRPr>
            </a:lvl1pPr>
          </a:lstStyle>
          <a:p>
            <a:fld id="{E993C772-3588-4B46-8C40-C50AE3703551}" type="slidenum">
              <a:rPr lang="en-US" smtClean="0"/>
              <a:t>‹#›</a:t>
            </a:fld>
            <a:endParaRPr lang="en-US"/>
          </a:p>
        </p:txBody>
      </p:sp>
      <p:sp>
        <p:nvSpPr>
          <p:cNvPr id="11" name="Footer Placeholder 10"/>
          <p:cNvSpPr>
            <a:spLocks noGrp="1"/>
          </p:cNvSpPr>
          <p:nvPr>
            <p:ph type="ftr" sz="quarter" idx="12"/>
          </p:nvPr>
        </p:nvSpPr>
        <p:spPr/>
        <p:txBody>
          <a:bodyPr/>
          <a:lstStyle>
            <a:lvl1pPr>
              <a:defRPr>
                <a:solidFill>
                  <a:srgbClr val="FFFFFF"/>
                </a:solidFill>
              </a:defRPr>
            </a:lvl1pPr>
          </a:lstStyle>
          <a:p>
            <a:endParaRPr lang="en-US"/>
          </a:p>
        </p:txBody>
      </p:sp>
      <p:sp>
        <p:nvSpPr>
          <p:cNvPr id="12" name="Title 11"/>
          <p:cNvSpPr>
            <a:spLocks noGrp="1"/>
          </p:cNvSpPr>
          <p:nvPr>
            <p:ph type="title"/>
          </p:nvPr>
        </p:nvSpPr>
        <p:spPr>
          <a:xfrm>
            <a:off x="381000" y="2892277"/>
            <a:ext cx="6324600" cy="1645920"/>
          </a:xfrm>
        </p:spPr>
        <p:txBody>
          <a:bodyPr/>
          <a:lstStyle>
            <a:lvl1pPr algn="r">
              <a:defRPr sz="4200" spc="150" baseline="0"/>
            </a:lvl1pPr>
          </a:lstStyle>
          <a:p>
            <a:r>
              <a:rPr lang="en-US"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4B6BB47-3781-4863-80A3-4984594B5814}" type="datetimeFigureOut">
              <a:rPr lang="en-US" smtClean="0"/>
              <a:t>5/6/2016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93C772-3588-4B46-8C40-C50AE3703551}" type="slidenum">
              <a:rPr lang="en-US" smtClean="0"/>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722438"/>
            <a:ext cx="4040188"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438399"/>
            <a:ext cx="4040188"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722438"/>
            <a:ext cx="4041775"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438399"/>
            <a:ext cx="4041775"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4B6BB47-3781-4863-80A3-4984594B5814}" type="datetimeFigureOut">
              <a:rPr lang="en-US" smtClean="0"/>
              <a:t>5/6/2016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93C772-3588-4B46-8C40-C50AE3703551}" type="slidenum">
              <a:rPr lang="en-US" smtClean="0"/>
              <a:t>‹#›</a:t>
            </a:fld>
            <a:endParaRPr lang="en-US"/>
          </a:p>
        </p:txBody>
      </p:sp>
      <p:sp>
        <p:nvSpPr>
          <p:cNvPr id="10" name="Title 9"/>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4B6BB47-3781-4863-80A3-4984594B5814}" type="datetimeFigureOut">
              <a:rPr lang="en-US" smtClean="0"/>
              <a:t>5/6/2016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93C772-3588-4B46-8C40-C50AE3703551}" type="slidenum">
              <a:rPr lang="en-US" smtClean="0"/>
              <a:t>‹#›</a:t>
            </a:fld>
            <a:endParaRPr lang="en-US"/>
          </a:p>
        </p:txBody>
      </p:sp>
      <p:sp>
        <p:nvSpPr>
          <p:cNvPr id="6" name="Title 5"/>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52400" y="150919"/>
            <a:ext cx="8831802"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64B6BB47-3781-4863-80A3-4984594B5814}" type="datetimeFigureOut">
              <a:rPr lang="en-US" smtClean="0"/>
              <a:t>5/6/2016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993C772-3588-4B46-8C40-C50AE370355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2"/>
      </p:bgRef>
    </p:bg>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50876"/>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152400" y="152400"/>
            <a:ext cx="6705600" cy="6553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09600" y="304800"/>
            <a:ext cx="58674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7159752" y="2130552"/>
            <a:ext cx="1673352" cy="2816352"/>
          </a:xfrm>
        </p:spPr>
        <p:txBody>
          <a:bodyPr tIns="0"/>
          <a:lstStyle>
            <a:lvl1pPr marL="0" indent="0">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4B6BB47-3781-4863-80A3-4984594B5814}" type="datetimeFigureOut">
              <a:rPr lang="en-US" smtClean="0"/>
              <a:t>5/6/2016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ln>
            <a:noFill/>
          </a:ln>
        </p:spPr>
        <p:txBody>
          <a:bodyPr/>
          <a:lstStyle>
            <a:lvl1pPr>
              <a:defRPr>
                <a:solidFill>
                  <a:srgbClr val="FFFFFF"/>
                </a:solidFill>
              </a:defRPr>
            </a:lvl1pPr>
          </a:lstStyle>
          <a:p>
            <a:fld id="{E993C772-3588-4B46-8C40-C50AE3703551}" type="slidenum">
              <a:rPr lang="en-US" smtClean="0"/>
              <a:t>‹#›</a:t>
            </a:fld>
            <a:endParaRPr lang="en-US"/>
          </a:p>
        </p:txBody>
      </p:sp>
      <p:sp>
        <p:nvSpPr>
          <p:cNvPr id="11" name="Title 10"/>
          <p:cNvSpPr>
            <a:spLocks noGrp="1"/>
          </p:cNvSpPr>
          <p:nvPr>
            <p:ph type="title"/>
          </p:nvPr>
        </p:nvSpPr>
        <p:spPr>
          <a:xfrm>
            <a:off x="7159752" y="457200"/>
            <a:ext cx="1675660" cy="1673352"/>
          </a:xfrm>
        </p:spPr>
        <p:txBody>
          <a:bodyPr anchor="b"/>
          <a:lstStyle>
            <a:lvl1pPr algn="l">
              <a:defRPr sz="2000" spc="150" baseline="0"/>
            </a:lvl1pPr>
          </a:lstStyle>
          <a:p>
            <a:r>
              <a:rPr lang="en-US" smtClean="0"/>
              <a:t>Click to edit Master title style</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7010400" y="150876"/>
            <a:ext cx="1981200" cy="6556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52400" y="152400"/>
            <a:ext cx="6705600" cy="6553200"/>
          </a:xfrm>
        </p:spPr>
        <p:txBody>
          <a:bodyPr anchor="ct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162800" y="2133600"/>
            <a:ext cx="1676400" cy="2971800"/>
          </a:xfrm>
        </p:spPr>
        <p:txBody>
          <a:bodyPr tIns="0"/>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4B6BB47-3781-4863-80A3-4984594B5814}" type="datetimeFigureOut">
              <a:rPr lang="en-US" smtClean="0"/>
              <a:t>5/6/2016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93C772-3588-4B46-8C40-C50AE3703551}" type="slidenum">
              <a:rPr lang="en-US" smtClean="0"/>
              <a:t>‹#›</a:t>
            </a:fld>
            <a:endParaRPr lang="en-US"/>
          </a:p>
        </p:txBody>
      </p:sp>
      <p:sp>
        <p:nvSpPr>
          <p:cNvPr id="10" name="Title 9"/>
          <p:cNvSpPr>
            <a:spLocks noGrp="1"/>
          </p:cNvSpPr>
          <p:nvPr>
            <p:ph type="title"/>
          </p:nvPr>
        </p:nvSpPr>
        <p:spPr>
          <a:xfrm>
            <a:off x="7162800" y="460248"/>
            <a:ext cx="1676400" cy="1673352"/>
          </a:xfrm>
        </p:spPr>
        <p:txBody>
          <a:bodyPr anchor="b"/>
          <a:lstStyle>
            <a:lvl1pPr algn="l">
              <a:defRPr sz="2000" spc="150" baseline="0">
                <a:solidFill>
                  <a:schemeClr val="tx2"/>
                </a:solidFill>
              </a:defRPr>
            </a:lvl1pPr>
          </a:lstStyle>
          <a:p>
            <a:r>
              <a:rPr lang="en-US" smtClean="0"/>
              <a:t>Click to edit Master 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4B6BB47-3781-4863-80A3-4984594B5814}" type="datetimeFigureOut">
              <a:rPr lang="en-US" smtClean="0"/>
              <a:t>5/6/2016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93C772-3588-4B46-8C40-C50AE370355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52400" y="147319"/>
            <a:ext cx="6705600"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47319"/>
            <a:ext cx="1956046"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162800" y="274638"/>
            <a:ext cx="1676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4B6BB47-3781-4863-80A3-4984594B5814}" type="datetimeFigureOut">
              <a:rPr lang="en-US" smtClean="0"/>
              <a:t>5/6/2016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E993C772-3588-4B46-8C40-C50AE370355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152400" y="1634971"/>
            <a:ext cx="8831802" cy="504547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399" y="152400"/>
            <a:ext cx="8814047" cy="13464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381000" y="355847"/>
            <a:ext cx="8381260" cy="105439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380999" y="1719071"/>
            <a:ext cx="8407893" cy="440740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70888" y="6356350"/>
            <a:ext cx="2133600" cy="274320"/>
          </a:xfrm>
          <a:prstGeom prst="rect">
            <a:avLst/>
          </a:prstGeom>
        </p:spPr>
        <p:txBody>
          <a:bodyPr vert="horz" lIns="91440" tIns="45720" rIns="91440" bIns="45720" rtlCol="0" anchor="ctr"/>
          <a:lstStyle>
            <a:lvl1pPr algn="l">
              <a:defRPr sz="1100">
                <a:solidFill>
                  <a:schemeClr val="tx2"/>
                </a:solidFill>
              </a:defRPr>
            </a:lvl1pPr>
          </a:lstStyle>
          <a:p>
            <a:fld id="{64B6BB47-3781-4863-80A3-4984594B5814}" type="datetimeFigureOut">
              <a:rPr lang="en-US" smtClean="0"/>
              <a:t>5/6/2016</a:t>
            </a:fld>
            <a:endParaRPr lang="en-US"/>
          </a:p>
        </p:txBody>
      </p:sp>
      <p:sp>
        <p:nvSpPr>
          <p:cNvPr id="5" name="Footer Placeholder 4"/>
          <p:cNvSpPr>
            <a:spLocks noGrp="1"/>
          </p:cNvSpPr>
          <p:nvPr>
            <p:ph type="ftr" sz="quarter" idx="3"/>
          </p:nvPr>
        </p:nvSpPr>
        <p:spPr>
          <a:xfrm>
            <a:off x="3048000" y="6356350"/>
            <a:ext cx="3352800" cy="274320"/>
          </a:xfrm>
          <a:prstGeom prst="rect">
            <a:avLst/>
          </a:prstGeom>
        </p:spPr>
        <p:txBody>
          <a:bodyPr vert="horz" lIns="91440" tIns="45720" rIns="91440" bIns="45720" rtlCol="0" anchor="ctr"/>
          <a:lstStyle>
            <a:lvl1pPr algn="ctr">
              <a:defRPr sz="1100">
                <a:solidFill>
                  <a:schemeClr val="tx2"/>
                </a:solidFill>
              </a:defRPr>
            </a:lvl1pPr>
          </a:lstStyle>
          <a:p>
            <a:endParaRPr lang="en-US"/>
          </a:p>
        </p:txBody>
      </p:sp>
      <p:sp>
        <p:nvSpPr>
          <p:cNvPr id="6" name="Slide Number Placeholder 5"/>
          <p:cNvSpPr>
            <a:spLocks noGrp="1"/>
          </p:cNvSpPr>
          <p:nvPr>
            <p:ph type="sldNum" sz="quarter" idx="4"/>
          </p:nvPr>
        </p:nvSpPr>
        <p:spPr>
          <a:xfrm>
            <a:off x="8234680" y="6355080"/>
            <a:ext cx="582966" cy="274320"/>
          </a:xfrm>
          <a:prstGeom prst="rect">
            <a:avLst/>
          </a:prstGeom>
          <a:ln w="19050">
            <a:noFill/>
          </a:ln>
        </p:spPr>
        <p:txBody>
          <a:bodyPr vert="horz" lIns="91440" tIns="45720" rIns="91440" bIns="45720" rtlCol="0" anchor="ctr"/>
          <a:lstStyle>
            <a:lvl1pPr algn="ctr">
              <a:defRPr sz="1100">
                <a:solidFill>
                  <a:schemeClr val="tx2"/>
                </a:solidFill>
              </a:defRPr>
            </a:lvl1pPr>
          </a:lstStyle>
          <a:p>
            <a:fld id="{E993C772-3588-4B46-8C40-C50AE370355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3200" kern="1200" cap="all" spc="200" baseline="0">
          <a:ln>
            <a:noFill/>
          </a:ln>
          <a:solidFill>
            <a:schemeClr val="bg1"/>
          </a:solidFill>
          <a:effectLst/>
          <a:latin typeface="+mj-lt"/>
          <a:ea typeface="+mj-ea"/>
          <a:cs typeface="+mj-cs"/>
        </a:defRPr>
      </a:lvl1pPr>
    </p:titleStyle>
    <p:bodyStyle>
      <a:lvl1pPr marL="274320" indent="-228600" algn="l" defTabSz="914400" rtl="0" eaLnBrk="1" latinLnBrk="0" hangingPunct="1">
        <a:spcBef>
          <a:spcPct val="20000"/>
        </a:spcBef>
        <a:buClr>
          <a:schemeClr val="accent1"/>
        </a:buClr>
        <a:buFont typeface="Wingdings 2" pitchFamily="18" charset="2"/>
        <a:buChar char=""/>
        <a:defRPr sz="2000" kern="1200" spc="150" baseline="0">
          <a:solidFill>
            <a:schemeClr val="tx2"/>
          </a:solidFill>
          <a:latin typeface="+mn-lt"/>
          <a:ea typeface="+mn-ea"/>
          <a:cs typeface="+mn-cs"/>
        </a:defRPr>
      </a:lvl1pPr>
      <a:lvl2pPr marL="548640" indent="-182880" algn="l" defTabSz="914400" rtl="0" eaLnBrk="1" latinLnBrk="0" hangingPunct="1">
        <a:spcBef>
          <a:spcPct val="20000"/>
        </a:spcBef>
        <a:buClr>
          <a:schemeClr val="accent2"/>
        </a:buClr>
        <a:buFont typeface="Wingdings" pitchFamily="2" charset="2"/>
        <a:buChar char="§"/>
        <a:defRPr sz="1800" kern="1200" spc="100" baseline="0">
          <a:solidFill>
            <a:schemeClr val="tx2"/>
          </a:solidFill>
          <a:latin typeface="+mn-lt"/>
          <a:ea typeface="+mn-ea"/>
          <a:cs typeface="+mn-cs"/>
        </a:defRPr>
      </a:lvl2pPr>
      <a:lvl3pPr marL="822960" indent="-182880" algn="l" defTabSz="914400" rtl="0" eaLnBrk="1" latinLnBrk="0" hangingPunct="1">
        <a:spcBef>
          <a:spcPct val="20000"/>
        </a:spcBef>
        <a:buClr>
          <a:schemeClr val="accent3"/>
        </a:buClr>
        <a:buFont typeface="Wingdings" pitchFamily="2" charset="2"/>
        <a:buChar char="§"/>
        <a:defRPr sz="1600" kern="1200" spc="100" baseline="0">
          <a:solidFill>
            <a:schemeClr val="tx2"/>
          </a:solidFill>
          <a:latin typeface="+mn-lt"/>
          <a:ea typeface="+mn-ea"/>
          <a:cs typeface="+mn-cs"/>
        </a:defRPr>
      </a:lvl3pPr>
      <a:lvl4pPr marL="1097280" indent="-182880" algn="l" defTabSz="914400" rtl="0" eaLnBrk="1" latinLnBrk="0" hangingPunct="1">
        <a:spcBef>
          <a:spcPct val="20000"/>
        </a:spcBef>
        <a:buClr>
          <a:schemeClr val="accent4"/>
        </a:buClr>
        <a:buFont typeface="Wingdings" pitchFamily="2" charset="2"/>
        <a:buChar char="§"/>
        <a:defRPr sz="1400" kern="1200">
          <a:solidFill>
            <a:schemeClr val="tx2"/>
          </a:solidFill>
          <a:latin typeface="+mn-lt"/>
          <a:ea typeface="+mn-ea"/>
          <a:cs typeface="+mn-cs"/>
        </a:defRPr>
      </a:lvl4pPr>
      <a:lvl5pPr marL="1280160" indent="-182880" algn="l" defTabSz="914400" rtl="0" eaLnBrk="1" latinLnBrk="0" hangingPunct="1">
        <a:spcBef>
          <a:spcPct val="20000"/>
        </a:spcBef>
        <a:buClr>
          <a:schemeClr val="accent6"/>
        </a:buClr>
        <a:buFont typeface="Wingdings" pitchFamily="2" charset="2"/>
        <a:buChar char="§"/>
        <a:defRPr sz="1300" kern="1200" spc="100" baseline="0">
          <a:solidFill>
            <a:schemeClr val="tx2"/>
          </a:solidFill>
          <a:latin typeface="+mn-lt"/>
          <a:ea typeface="+mn-ea"/>
          <a:cs typeface="+mn-cs"/>
        </a:defRPr>
      </a:lvl5pPr>
      <a:lvl6pPr marL="1554480" indent="-182880" algn="l" defTabSz="914400"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6pPr>
      <a:lvl7pPr marL="1828800" indent="-182880" algn="l" defTabSz="914400" rtl="0" eaLnBrk="1" latinLnBrk="0" hangingPunct="1">
        <a:spcBef>
          <a:spcPct val="20000"/>
        </a:spcBef>
        <a:buClr>
          <a:schemeClr val="accent2"/>
        </a:buClr>
        <a:buFont typeface="Wingdings" pitchFamily="2" charset="2"/>
        <a:buChar char="§"/>
        <a:defRPr sz="1200" kern="1200">
          <a:solidFill>
            <a:schemeClr val="tx2"/>
          </a:solidFill>
          <a:latin typeface="+mn-lt"/>
          <a:ea typeface="+mn-ea"/>
          <a:cs typeface="+mn-cs"/>
        </a:defRPr>
      </a:lvl7pPr>
      <a:lvl8pPr marL="2103120" indent="-182880" algn="l" defTabSz="914400" rtl="0" eaLnBrk="1" latinLnBrk="0" hangingPunct="1">
        <a:spcBef>
          <a:spcPct val="20000"/>
        </a:spcBef>
        <a:buClr>
          <a:schemeClr val="accent3"/>
        </a:buClr>
        <a:buFont typeface="Wingdings" pitchFamily="2" charset="2"/>
        <a:buChar char="§"/>
        <a:defRPr sz="1200" kern="1200">
          <a:solidFill>
            <a:schemeClr val="tx2"/>
          </a:solidFill>
          <a:latin typeface="+mn-lt"/>
          <a:ea typeface="+mn-ea"/>
          <a:cs typeface="+mn-cs"/>
        </a:defRPr>
      </a:lvl8pPr>
      <a:lvl9pPr marL="2377440" indent="-182880" algn="l" defTabSz="914400" rtl="0" eaLnBrk="1" latinLnBrk="0" hangingPunct="1">
        <a:spcBef>
          <a:spcPct val="20000"/>
        </a:spcBef>
        <a:buClr>
          <a:schemeClr val="accent5"/>
        </a:buClr>
        <a:buFont typeface="Wingdings" pitchFamily="2" charset="2"/>
        <a:buChar char="§"/>
        <a:defRPr sz="12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Kellie Hanser</a:t>
            </a:r>
          </a:p>
          <a:p>
            <a:r>
              <a:rPr lang="en-US" dirty="0" smtClean="0"/>
              <a:t>BI300 – Honors Project</a:t>
            </a:r>
            <a:endParaRPr lang="en-US" dirty="0"/>
          </a:p>
        </p:txBody>
      </p:sp>
      <p:sp>
        <p:nvSpPr>
          <p:cNvPr id="2" name="Title 1"/>
          <p:cNvSpPr>
            <a:spLocks noGrp="1"/>
          </p:cNvSpPr>
          <p:nvPr>
            <p:ph type="title"/>
          </p:nvPr>
        </p:nvSpPr>
        <p:spPr/>
        <p:txBody>
          <a:bodyPr/>
          <a:lstStyle/>
          <a:p>
            <a:r>
              <a:rPr lang="en-US" dirty="0" smtClean="0"/>
              <a:t>Green Beard Effect </a:t>
            </a:r>
            <a:endParaRPr lang="en-US" dirty="0"/>
          </a:p>
        </p:txBody>
      </p:sp>
    </p:spTree>
    <p:extLst>
      <p:ext uri="{BB962C8B-B14F-4D97-AF65-F5344CB8AC3E}">
        <p14:creationId xmlns:p14="http://schemas.microsoft.com/office/powerpoint/2010/main" val="27708025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228600" y="2770909"/>
            <a:ext cx="5105400" cy="9144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p:cNvSpPr>
            <a:spLocks noGrp="1"/>
          </p:cNvSpPr>
          <p:nvPr>
            <p:ph idx="1"/>
          </p:nvPr>
        </p:nvSpPr>
        <p:spPr/>
        <p:txBody>
          <a:bodyPr>
            <a:normAutofit/>
          </a:bodyPr>
          <a:lstStyle/>
          <a:p>
            <a:r>
              <a:rPr lang="en-US" sz="2400" dirty="0" smtClean="0"/>
              <a:t>1. Direct Fitness Benefit</a:t>
            </a:r>
          </a:p>
          <a:p>
            <a:endParaRPr lang="en-US" sz="2400" dirty="0"/>
          </a:p>
          <a:p>
            <a:endParaRPr lang="en-US" sz="2400" i="1" dirty="0" smtClean="0"/>
          </a:p>
          <a:p>
            <a:r>
              <a:rPr lang="en-US" sz="2400" dirty="0" smtClean="0"/>
              <a:t>2. Indirect Fitness Benefit </a:t>
            </a:r>
            <a:endParaRPr lang="en-US" sz="2400" dirty="0"/>
          </a:p>
        </p:txBody>
      </p:sp>
      <p:sp>
        <p:nvSpPr>
          <p:cNvPr id="3" name="Title 2"/>
          <p:cNvSpPr>
            <a:spLocks noGrp="1"/>
          </p:cNvSpPr>
          <p:nvPr>
            <p:ph type="title"/>
          </p:nvPr>
        </p:nvSpPr>
        <p:spPr/>
        <p:txBody>
          <a:bodyPr/>
          <a:lstStyle/>
          <a:p>
            <a:r>
              <a:rPr lang="en-US" dirty="0" smtClean="0"/>
              <a:t>Genes favored </a:t>
            </a:r>
            <a:r>
              <a:rPr lang="en-US" dirty="0" smtClean="0"/>
              <a:t>by </a:t>
            </a:r>
            <a:r>
              <a:rPr lang="en-US" dirty="0" smtClean="0"/>
              <a:t>natural selection </a:t>
            </a:r>
            <a:endParaRPr lang="en-US" dirty="0"/>
          </a:p>
        </p:txBody>
      </p:sp>
      <p:sp>
        <p:nvSpPr>
          <p:cNvPr id="6" name="Down Arrow 5"/>
          <p:cNvSpPr/>
          <p:nvPr/>
        </p:nvSpPr>
        <p:spPr>
          <a:xfrm>
            <a:off x="2514600" y="3810000"/>
            <a:ext cx="533400" cy="1143000"/>
          </a:xfrm>
          <a:prstGeom prst="down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733550" y="5054024"/>
            <a:ext cx="2095500" cy="584775"/>
          </a:xfrm>
          <a:prstGeom prst="rect">
            <a:avLst/>
          </a:prstGeom>
          <a:noFill/>
        </p:spPr>
        <p:txBody>
          <a:bodyPr wrap="square" rtlCol="0">
            <a:spAutoFit/>
          </a:bodyPr>
          <a:lstStyle/>
          <a:p>
            <a:r>
              <a:rPr lang="en-US" sz="3200" dirty="0" smtClean="0"/>
              <a:t>Important </a:t>
            </a:r>
            <a:endParaRPr lang="en-US" sz="3200" dirty="0"/>
          </a:p>
        </p:txBody>
      </p:sp>
    </p:spTree>
    <p:extLst>
      <p:ext uri="{BB962C8B-B14F-4D97-AF65-F5344CB8AC3E}">
        <p14:creationId xmlns:p14="http://schemas.microsoft.com/office/powerpoint/2010/main" val="4101942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P spid="6" grpId="0" animBg="1"/>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762000" y="1752600"/>
            <a:ext cx="3086100" cy="3915490"/>
          </a:xfrm>
        </p:spPr>
      </p:pic>
      <p:sp>
        <p:nvSpPr>
          <p:cNvPr id="3" name="Content Placeholder 2"/>
          <p:cNvSpPr>
            <a:spLocks noGrp="1"/>
          </p:cNvSpPr>
          <p:nvPr>
            <p:ph sz="half" idx="2"/>
          </p:nvPr>
        </p:nvSpPr>
        <p:spPr>
          <a:xfrm>
            <a:off x="4267200" y="1719072"/>
            <a:ext cx="4419600" cy="4407408"/>
          </a:xfrm>
        </p:spPr>
        <p:txBody>
          <a:bodyPr/>
          <a:lstStyle/>
          <a:p>
            <a:r>
              <a:rPr lang="en-US" dirty="0" smtClean="0"/>
              <a:t>William Hamilton</a:t>
            </a:r>
          </a:p>
          <a:p>
            <a:r>
              <a:rPr lang="en-US" dirty="0" smtClean="0"/>
              <a:t>“The Genetic Evolution of Social Behavior” </a:t>
            </a:r>
          </a:p>
          <a:p>
            <a:r>
              <a:rPr lang="en-US" dirty="0" smtClean="0"/>
              <a:t>1964</a:t>
            </a:r>
          </a:p>
          <a:p>
            <a:endParaRPr lang="en-US" dirty="0"/>
          </a:p>
        </p:txBody>
      </p:sp>
      <p:sp>
        <p:nvSpPr>
          <p:cNvPr id="4" name="Title 3"/>
          <p:cNvSpPr>
            <a:spLocks noGrp="1"/>
          </p:cNvSpPr>
          <p:nvPr>
            <p:ph type="title"/>
          </p:nvPr>
        </p:nvSpPr>
        <p:spPr/>
        <p:txBody>
          <a:bodyPr/>
          <a:lstStyle/>
          <a:p>
            <a:r>
              <a:rPr lang="en-US" sz="5400" dirty="0" smtClean="0"/>
              <a:t>Altruism </a:t>
            </a:r>
            <a:endParaRPr lang="en-US" sz="5400" dirty="0"/>
          </a:p>
        </p:txBody>
      </p:sp>
    </p:spTree>
    <p:extLst>
      <p:ext uri="{BB962C8B-B14F-4D97-AF65-F5344CB8AC3E}">
        <p14:creationId xmlns:p14="http://schemas.microsoft.com/office/powerpoint/2010/main" val="33088082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ctr"/>
            <a:r>
              <a:rPr lang="en-US" sz="2800" dirty="0"/>
              <a:t>behavior that benefits others at a personal cost to the behaving individual</a:t>
            </a:r>
          </a:p>
        </p:txBody>
      </p:sp>
      <p:sp>
        <p:nvSpPr>
          <p:cNvPr id="3" name="Title 2"/>
          <p:cNvSpPr>
            <a:spLocks noGrp="1"/>
          </p:cNvSpPr>
          <p:nvPr>
            <p:ph type="title"/>
          </p:nvPr>
        </p:nvSpPr>
        <p:spPr/>
        <p:txBody>
          <a:bodyPr/>
          <a:lstStyle/>
          <a:p>
            <a:r>
              <a:rPr lang="en-US" dirty="0" smtClean="0"/>
              <a:t>So what is altruism? </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048000"/>
            <a:ext cx="5547360" cy="3467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5943600" y="3352800"/>
            <a:ext cx="3048000" cy="369332"/>
          </a:xfrm>
          <a:prstGeom prst="rect">
            <a:avLst/>
          </a:prstGeom>
          <a:noFill/>
        </p:spPr>
        <p:txBody>
          <a:bodyPr wrap="square" rtlCol="0">
            <a:spAutoFit/>
          </a:bodyPr>
          <a:lstStyle/>
          <a:p>
            <a:r>
              <a:rPr lang="en-US" dirty="0" smtClean="0">
                <a:sym typeface="Wingdings" panose="05000000000000000000" pitchFamily="2" charset="2"/>
              </a:rPr>
              <a:t> Most common example</a:t>
            </a:r>
            <a:endParaRPr lang="en-US" dirty="0"/>
          </a:p>
        </p:txBody>
      </p:sp>
    </p:spTree>
    <p:extLst>
      <p:ext uri="{BB962C8B-B14F-4D97-AF65-F5344CB8AC3E}">
        <p14:creationId xmlns:p14="http://schemas.microsoft.com/office/powerpoint/2010/main" val="416873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smtClean="0"/>
              <a:t>Kin Recognition </a:t>
            </a:r>
            <a:endParaRPr lang="en-US" dirty="0"/>
          </a:p>
        </p:txBody>
      </p:sp>
      <p:sp>
        <p:nvSpPr>
          <p:cNvPr id="3" name="Content Placeholder 2"/>
          <p:cNvSpPr>
            <a:spLocks noGrp="1"/>
          </p:cNvSpPr>
          <p:nvPr>
            <p:ph sz="half" idx="2"/>
          </p:nvPr>
        </p:nvSpPr>
        <p:spPr/>
        <p:txBody>
          <a:bodyPr/>
          <a:lstStyle/>
          <a:p>
            <a:endParaRPr lang="en-US" dirty="0" smtClean="0"/>
          </a:p>
          <a:p>
            <a:r>
              <a:rPr lang="en-US" dirty="0" smtClean="0"/>
              <a:t>Ability </a:t>
            </a:r>
            <a:r>
              <a:rPr lang="en-US" dirty="0"/>
              <a:t>to identify between close genetic kin and non-kin </a:t>
            </a:r>
          </a:p>
        </p:txBody>
      </p:sp>
      <p:sp>
        <p:nvSpPr>
          <p:cNvPr id="4" name="Text Placeholder 3"/>
          <p:cNvSpPr>
            <a:spLocks noGrp="1"/>
          </p:cNvSpPr>
          <p:nvPr>
            <p:ph type="body" sz="quarter" idx="3"/>
          </p:nvPr>
        </p:nvSpPr>
        <p:spPr/>
        <p:txBody>
          <a:bodyPr/>
          <a:lstStyle/>
          <a:p>
            <a:r>
              <a:rPr lang="en-US" dirty="0" smtClean="0"/>
              <a:t>Greenbeard</a:t>
            </a:r>
            <a:endParaRPr lang="en-US" dirty="0"/>
          </a:p>
        </p:txBody>
      </p:sp>
      <p:sp>
        <p:nvSpPr>
          <p:cNvPr id="6" name="Title 5"/>
          <p:cNvSpPr>
            <a:spLocks noGrp="1"/>
          </p:cNvSpPr>
          <p:nvPr>
            <p:ph type="title"/>
          </p:nvPr>
        </p:nvSpPr>
        <p:spPr/>
        <p:txBody>
          <a:bodyPr/>
          <a:lstStyle/>
          <a:p>
            <a:r>
              <a:rPr lang="en-US" dirty="0" smtClean="0"/>
              <a:t>Two forms of altruism </a:t>
            </a:r>
            <a:endParaRPr lang="en-US" dirty="0"/>
          </a:p>
        </p:txBody>
      </p:sp>
      <p:pic>
        <p:nvPicPr>
          <p:cNvPr id="3074" name="Picture 2"/>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5105400" y="2500538"/>
            <a:ext cx="3189420" cy="37780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7076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074"/>
                                        </p:tgtEl>
                                        <p:attrNameLst>
                                          <p:attrName>style.visibility</p:attrName>
                                        </p:attrNameLst>
                                      </p:cBhvr>
                                      <p:to>
                                        <p:strVal val="visible"/>
                                      </p:to>
                                    </p:set>
                                    <p:animEffect transition="in" filter="fade">
                                      <p:cBhvr>
                                        <p:cTn id="18"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build="p"/>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xplosion 2 7"/>
          <p:cNvSpPr/>
          <p:nvPr/>
        </p:nvSpPr>
        <p:spPr>
          <a:xfrm rot="472373">
            <a:off x="-427724" y="3693785"/>
            <a:ext cx="9657659" cy="3320146"/>
          </a:xfrm>
          <a:prstGeom prst="irregularSeal2">
            <a:avLst/>
          </a:prstGeom>
          <a:solidFill>
            <a:schemeClr val="bg2"/>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1"/>
          <p:cNvSpPr>
            <a:spLocks noGrp="1"/>
          </p:cNvSpPr>
          <p:nvPr>
            <p:ph idx="1"/>
          </p:nvPr>
        </p:nvSpPr>
        <p:spPr/>
        <p:txBody>
          <a:bodyPr>
            <a:normAutofit/>
          </a:bodyPr>
          <a:lstStyle/>
          <a:p>
            <a:r>
              <a:rPr lang="en-US" sz="2800" dirty="0" smtClean="0"/>
              <a:t>Richard Dawkins 1976</a:t>
            </a:r>
          </a:p>
          <a:p>
            <a:endParaRPr lang="en-US" sz="2800" dirty="0" smtClean="0"/>
          </a:p>
          <a:p>
            <a:pPr marL="45720" indent="0">
              <a:buNone/>
            </a:pPr>
            <a:r>
              <a:rPr lang="en-US" sz="2800" dirty="0"/>
              <a:t>[</a:t>
            </a:r>
            <a:r>
              <a:rPr lang="en-US" sz="2800" dirty="0" smtClean="0"/>
              <a:t>Gene </a:t>
            </a:r>
            <a:r>
              <a:rPr lang="en-US" sz="2800" dirty="0"/>
              <a:t>produces a phenotypic effect that is perceivable by others with this same trait which causes special treatment to those </a:t>
            </a:r>
            <a:r>
              <a:rPr lang="en-US" sz="2800" dirty="0" smtClean="0"/>
              <a:t>recognized]</a:t>
            </a:r>
          </a:p>
          <a:p>
            <a:pPr marL="45720" indent="0">
              <a:buNone/>
            </a:pPr>
            <a:endParaRPr lang="en-US" sz="2400" dirty="0"/>
          </a:p>
          <a:p>
            <a:pPr marL="45720" indent="0">
              <a:buNone/>
            </a:pPr>
            <a:endParaRPr lang="en-US" sz="2400" dirty="0" smtClean="0"/>
          </a:p>
          <a:p>
            <a:pPr marL="45720" indent="0">
              <a:buNone/>
            </a:pPr>
            <a:r>
              <a:rPr lang="en-US" sz="2400" dirty="0" smtClean="0"/>
              <a:t>However, a visible tag is NOT always required!</a:t>
            </a:r>
            <a:endParaRPr lang="en-US" sz="2400" dirty="0"/>
          </a:p>
        </p:txBody>
      </p:sp>
      <p:sp>
        <p:nvSpPr>
          <p:cNvPr id="3" name="Title 2"/>
          <p:cNvSpPr>
            <a:spLocks noGrp="1"/>
          </p:cNvSpPr>
          <p:nvPr>
            <p:ph type="title"/>
          </p:nvPr>
        </p:nvSpPr>
        <p:spPr/>
        <p:txBody>
          <a:bodyPr/>
          <a:lstStyle/>
          <a:p>
            <a:r>
              <a:rPr lang="en-US" dirty="0" smtClean="0"/>
              <a:t>greenbeard effect?</a:t>
            </a:r>
            <a:endParaRPr lang="en-US" dirty="0"/>
          </a:p>
        </p:txBody>
      </p:sp>
    </p:spTree>
    <p:extLst>
      <p:ext uri="{BB962C8B-B14F-4D97-AF65-F5344CB8AC3E}">
        <p14:creationId xmlns:p14="http://schemas.microsoft.com/office/powerpoint/2010/main" val="1109694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355847"/>
            <a:ext cx="8381260" cy="939553"/>
          </a:xfrm>
        </p:spPr>
        <p:txBody>
          <a:bodyPr/>
          <a:lstStyle/>
          <a:p>
            <a:r>
              <a:rPr lang="en-US" dirty="0" smtClean="0"/>
              <a:t>Key Difference Between kin recognition and green beard effect</a:t>
            </a:r>
            <a:endParaRPr lang="en-US"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2362200"/>
            <a:ext cx="8818378" cy="2645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3743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barn(inVertical)">
                                      <p:cBhvr>
                                        <p:cTn id="7"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is this effect important? </a:t>
            </a: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745673"/>
            <a:ext cx="4796422" cy="48006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9037847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As it turns out… there is  4 types of green beards</a:t>
            </a:r>
            <a:endParaRPr lang="en-US" dirty="0"/>
          </a:p>
        </p:txBody>
      </p:sp>
      <p:sp>
        <p:nvSpPr>
          <p:cNvPr id="5" name="Content Placeholder 4"/>
          <p:cNvSpPr>
            <a:spLocks noGrp="1"/>
          </p:cNvSpPr>
          <p:nvPr>
            <p:ph idx="1"/>
          </p:nvPr>
        </p:nvSpPr>
        <p:spPr/>
        <p:txBody>
          <a:bodyPr/>
          <a:lstStyle/>
          <a:p>
            <a:r>
              <a:rPr lang="en-US" sz="2400" dirty="0" smtClean="0"/>
              <a:t>Facultative-helping</a:t>
            </a:r>
          </a:p>
          <a:p>
            <a:endParaRPr lang="en-US" sz="2400" dirty="0" smtClean="0"/>
          </a:p>
          <a:p>
            <a:r>
              <a:rPr lang="en-US" sz="2400" dirty="0" smtClean="0"/>
              <a:t>Obligate-helping</a:t>
            </a:r>
          </a:p>
          <a:p>
            <a:endParaRPr lang="en-US" sz="2400" dirty="0"/>
          </a:p>
          <a:p>
            <a:r>
              <a:rPr lang="en-US" sz="2400" dirty="0" smtClean="0"/>
              <a:t>Facultative-harming</a:t>
            </a:r>
          </a:p>
          <a:p>
            <a:endParaRPr lang="en-US" sz="2400" dirty="0"/>
          </a:p>
          <a:p>
            <a:r>
              <a:rPr lang="en-US" sz="2400" dirty="0" smtClean="0"/>
              <a:t>Obligate-harming </a:t>
            </a:r>
          </a:p>
          <a:p>
            <a:endParaRPr lang="en-US" dirty="0"/>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0946" y="1752600"/>
            <a:ext cx="4600575" cy="4723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5077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400" dirty="0" smtClean="0"/>
              <a:t>Greenbeard </a:t>
            </a:r>
            <a:r>
              <a:rPr lang="en-US" sz="2400" dirty="0"/>
              <a:t>actor </a:t>
            </a:r>
            <a:r>
              <a:rPr lang="en-US" sz="2400" dirty="0" err="1"/>
              <a:t>facultatively</a:t>
            </a:r>
            <a:r>
              <a:rPr lang="en-US" sz="2400" dirty="0"/>
              <a:t> adjusting his social behavior so as to provide help only to those who carry </a:t>
            </a:r>
            <a:r>
              <a:rPr lang="en-US" sz="2400" dirty="0" smtClean="0"/>
              <a:t>the </a:t>
            </a:r>
            <a:r>
              <a:rPr lang="en-US" sz="2400" dirty="0"/>
              <a:t>greenbeard gene </a:t>
            </a:r>
            <a:endParaRPr lang="en-US" sz="2400" dirty="0" smtClean="0"/>
          </a:p>
          <a:p>
            <a:endParaRPr lang="en-US" sz="2400" dirty="0"/>
          </a:p>
          <a:p>
            <a:endParaRPr lang="en-US" sz="2400" dirty="0"/>
          </a:p>
        </p:txBody>
      </p:sp>
      <p:sp>
        <p:nvSpPr>
          <p:cNvPr id="3" name="Title 2"/>
          <p:cNvSpPr>
            <a:spLocks noGrp="1"/>
          </p:cNvSpPr>
          <p:nvPr>
            <p:ph type="title"/>
          </p:nvPr>
        </p:nvSpPr>
        <p:spPr/>
        <p:txBody>
          <a:bodyPr/>
          <a:lstStyle/>
          <a:p>
            <a:r>
              <a:rPr lang="en-US" dirty="0" smtClean="0"/>
              <a:t>Facultative-helping </a:t>
            </a:r>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090745"/>
            <a:ext cx="4067175" cy="3471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5133109" y="4267200"/>
            <a:ext cx="3810000" cy="646331"/>
          </a:xfrm>
          <a:prstGeom prst="rect">
            <a:avLst/>
          </a:prstGeom>
          <a:noFill/>
        </p:spPr>
        <p:txBody>
          <a:bodyPr wrap="square" rtlCol="0">
            <a:spAutoFit/>
          </a:bodyPr>
          <a:lstStyle/>
          <a:p>
            <a:r>
              <a:rPr lang="en-US" dirty="0" smtClean="0"/>
              <a:t>Slime mold: </a:t>
            </a:r>
            <a:r>
              <a:rPr lang="en-US" i="1" dirty="0" err="1" smtClean="0"/>
              <a:t>Dictyostelium</a:t>
            </a:r>
            <a:r>
              <a:rPr lang="en-US" i="1" dirty="0" smtClean="0"/>
              <a:t> </a:t>
            </a:r>
            <a:r>
              <a:rPr lang="en-US" i="1" dirty="0" err="1" smtClean="0"/>
              <a:t>discoideum</a:t>
            </a:r>
            <a:r>
              <a:rPr lang="en-US" i="1" dirty="0" smtClean="0"/>
              <a:t> </a:t>
            </a:r>
            <a:endParaRPr lang="en-US" i="1" dirty="0"/>
          </a:p>
        </p:txBody>
      </p:sp>
    </p:spTree>
    <p:extLst>
      <p:ext uri="{BB962C8B-B14F-4D97-AF65-F5344CB8AC3E}">
        <p14:creationId xmlns:p14="http://schemas.microsoft.com/office/powerpoint/2010/main" val="2878977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14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400" dirty="0" smtClean="0"/>
              <a:t>Greenbeard expresses </a:t>
            </a:r>
            <a:r>
              <a:rPr lang="en-US" sz="2400" dirty="0"/>
              <a:t>the helping behavior in all social interactions, but only carries of the greenbeard gene can benefit from this help </a:t>
            </a:r>
          </a:p>
        </p:txBody>
      </p:sp>
      <p:sp>
        <p:nvSpPr>
          <p:cNvPr id="3" name="Title 2"/>
          <p:cNvSpPr>
            <a:spLocks noGrp="1"/>
          </p:cNvSpPr>
          <p:nvPr>
            <p:ph type="title"/>
          </p:nvPr>
        </p:nvSpPr>
        <p:spPr/>
        <p:txBody>
          <a:bodyPr/>
          <a:lstStyle/>
          <a:p>
            <a:r>
              <a:rPr lang="en-US" dirty="0" smtClean="0"/>
              <a:t>Obligate-helping</a:t>
            </a:r>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124200"/>
            <a:ext cx="3124200" cy="318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191000" y="4349512"/>
            <a:ext cx="4343400" cy="369332"/>
          </a:xfrm>
          <a:prstGeom prst="rect">
            <a:avLst/>
          </a:prstGeom>
          <a:noFill/>
        </p:spPr>
        <p:txBody>
          <a:bodyPr wrap="square" rtlCol="0">
            <a:spAutoFit/>
          </a:bodyPr>
          <a:lstStyle/>
          <a:p>
            <a:r>
              <a:rPr lang="en-US" i="1" dirty="0" smtClean="0"/>
              <a:t>Agrobacterium </a:t>
            </a:r>
            <a:r>
              <a:rPr lang="en-US" i="1" dirty="0" err="1" smtClean="0"/>
              <a:t>tumefaciens</a:t>
            </a:r>
            <a:r>
              <a:rPr lang="en-US" i="1" dirty="0" smtClean="0"/>
              <a:t> </a:t>
            </a:r>
            <a:endParaRPr lang="en-US" i="1" dirty="0"/>
          </a:p>
        </p:txBody>
      </p:sp>
    </p:spTree>
    <p:extLst>
      <p:ext uri="{BB962C8B-B14F-4D97-AF65-F5344CB8AC3E}">
        <p14:creationId xmlns:p14="http://schemas.microsoft.com/office/powerpoint/2010/main" val="1521816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170"/>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•Greenbeard </a:t>
            </a:r>
            <a:r>
              <a:rPr lang="en-US" dirty="0"/>
              <a:t>actor </a:t>
            </a:r>
            <a:r>
              <a:rPr lang="en-US" dirty="0" err="1"/>
              <a:t>facultatively</a:t>
            </a:r>
            <a:r>
              <a:rPr lang="en-US" dirty="0"/>
              <a:t> adjusting his social behavior so as to inflict harm only against those social partners who do not carry the greenbeard gene </a:t>
            </a:r>
          </a:p>
          <a:p>
            <a:pPr marL="45720" indent="0">
              <a:buNone/>
            </a:pPr>
            <a:endParaRPr lang="en-US" dirty="0" smtClean="0">
              <a:solidFill>
                <a:schemeClr val="tx1"/>
              </a:solidFill>
            </a:endParaRPr>
          </a:p>
          <a:p>
            <a:pPr marL="45720" indent="0">
              <a:buNone/>
            </a:pPr>
            <a:endParaRPr lang="en-US" dirty="0">
              <a:solidFill>
                <a:schemeClr val="tx1"/>
              </a:solidFill>
            </a:endParaRPr>
          </a:p>
          <a:p>
            <a:pPr marL="45720" indent="0">
              <a:buNone/>
            </a:pPr>
            <a:r>
              <a:rPr lang="en-US" dirty="0" smtClean="0">
                <a:solidFill>
                  <a:schemeClr val="tx1"/>
                </a:solidFill>
              </a:rPr>
              <a:t>   Gp-9 </a:t>
            </a:r>
            <a:r>
              <a:rPr lang="en-US" dirty="0">
                <a:solidFill>
                  <a:schemeClr val="tx1"/>
                </a:solidFill>
              </a:rPr>
              <a:t>gene of the red fire ant </a:t>
            </a:r>
          </a:p>
          <a:p>
            <a:endParaRPr lang="en-US" dirty="0"/>
          </a:p>
        </p:txBody>
      </p:sp>
      <p:sp>
        <p:nvSpPr>
          <p:cNvPr id="3" name="Title 2"/>
          <p:cNvSpPr>
            <a:spLocks noGrp="1"/>
          </p:cNvSpPr>
          <p:nvPr>
            <p:ph type="title"/>
          </p:nvPr>
        </p:nvSpPr>
        <p:spPr/>
        <p:txBody>
          <a:bodyPr/>
          <a:lstStyle/>
          <a:p>
            <a:r>
              <a:rPr lang="en-US" dirty="0" smtClean="0"/>
              <a:t>Facultative-Harming </a:t>
            </a:r>
            <a:endParaRPr lang="en-US"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3810000"/>
            <a:ext cx="4078260" cy="2724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02011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Greenbeard </a:t>
            </a:r>
            <a:r>
              <a:rPr lang="en-US" dirty="0"/>
              <a:t>actor expressing the harming behavior in all social interactions, but carriers of the greenbeard gene is immune to the behaviors harmful effects</a:t>
            </a:r>
          </a:p>
          <a:p>
            <a:pPr marL="45720" indent="0">
              <a:buNone/>
            </a:pPr>
            <a:endParaRPr lang="en-US" dirty="0"/>
          </a:p>
          <a:p>
            <a:pPr marL="45720" indent="0">
              <a:buNone/>
            </a:pPr>
            <a:endParaRPr lang="en-US" dirty="0" smtClean="0">
              <a:solidFill>
                <a:schemeClr val="tx1"/>
              </a:solidFill>
            </a:endParaRPr>
          </a:p>
          <a:p>
            <a:pPr marL="45720" indent="0">
              <a:buNone/>
            </a:pPr>
            <a:r>
              <a:rPr lang="en-US" dirty="0" smtClean="0">
                <a:solidFill>
                  <a:schemeClr val="tx1"/>
                </a:solidFill>
              </a:rPr>
              <a:t>        </a:t>
            </a:r>
            <a:r>
              <a:rPr lang="en-US" dirty="0" err="1" smtClean="0">
                <a:solidFill>
                  <a:schemeClr val="tx1"/>
                </a:solidFill>
              </a:rPr>
              <a:t>Bacteriocin</a:t>
            </a:r>
            <a:r>
              <a:rPr lang="en-US" dirty="0" smtClean="0">
                <a:solidFill>
                  <a:schemeClr val="tx1"/>
                </a:solidFill>
              </a:rPr>
              <a:t>-encoding </a:t>
            </a:r>
            <a:r>
              <a:rPr lang="en-US" dirty="0">
                <a:solidFill>
                  <a:schemeClr val="tx1"/>
                </a:solidFill>
              </a:rPr>
              <a:t>genes </a:t>
            </a:r>
            <a:endParaRPr lang="en-US" dirty="0" smtClean="0">
              <a:solidFill>
                <a:schemeClr val="tx1"/>
              </a:solidFill>
            </a:endParaRPr>
          </a:p>
          <a:p>
            <a:pPr marL="45720" indent="0">
              <a:buNone/>
            </a:pPr>
            <a:r>
              <a:rPr lang="en-US" dirty="0" smtClean="0">
                <a:solidFill>
                  <a:schemeClr val="tx1"/>
                </a:solidFill>
              </a:rPr>
              <a:t>        of </a:t>
            </a:r>
            <a:r>
              <a:rPr lang="en-US" dirty="0">
                <a:solidFill>
                  <a:schemeClr val="tx1"/>
                </a:solidFill>
              </a:rPr>
              <a:t>the bacterium </a:t>
            </a:r>
            <a:endParaRPr lang="en-US" dirty="0" smtClean="0">
              <a:solidFill>
                <a:schemeClr val="tx1"/>
              </a:solidFill>
            </a:endParaRPr>
          </a:p>
          <a:p>
            <a:pPr marL="45720" indent="0">
              <a:buNone/>
            </a:pPr>
            <a:r>
              <a:rPr lang="en-US" i="1" dirty="0" smtClean="0">
                <a:solidFill>
                  <a:schemeClr val="tx1"/>
                </a:solidFill>
              </a:rPr>
              <a:t>        </a:t>
            </a:r>
            <a:r>
              <a:rPr lang="en-US" i="1" dirty="0" err="1" smtClean="0">
                <a:solidFill>
                  <a:schemeClr val="tx1"/>
                </a:solidFill>
              </a:rPr>
              <a:t>Photohabdus</a:t>
            </a:r>
            <a:r>
              <a:rPr lang="en-US" i="1" dirty="0" smtClean="0">
                <a:solidFill>
                  <a:schemeClr val="tx1"/>
                </a:solidFill>
              </a:rPr>
              <a:t> </a:t>
            </a:r>
            <a:r>
              <a:rPr lang="en-US" i="1" dirty="0" err="1">
                <a:solidFill>
                  <a:schemeClr val="tx1"/>
                </a:solidFill>
              </a:rPr>
              <a:t>Iuminescens</a:t>
            </a:r>
            <a:r>
              <a:rPr lang="en-US" i="1" dirty="0">
                <a:solidFill>
                  <a:schemeClr val="tx1"/>
                </a:solidFill>
              </a:rPr>
              <a:t> </a:t>
            </a:r>
          </a:p>
          <a:p>
            <a:endParaRPr lang="en-US" dirty="0"/>
          </a:p>
        </p:txBody>
      </p:sp>
      <p:sp>
        <p:nvSpPr>
          <p:cNvPr id="3" name="Title 2"/>
          <p:cNvSpPr>
            <a:spLocks noGrp="1"/>
          </p:cNvSpPr>
          <p:nvPr>
            <p:ph type="title"/>
          </p:nvPr>
        </p:nvSpPr>
        <p:spPr/>
        <p:txBody>
          <a:bodyPr/>
          <a:lstStyle/>
          <a:p>
            <a:r>
              <a:rPr lang="en-US" dirty="0" smtClean="0"/>
              <a:t>Obligate-harming </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3124200"/>
            <a:ext cx="3553691" cy="32220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0867198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Conceived </a:t>
            </a:r>
            <a:r>
              <a:rPr lang="en-US" dirty="0"/>
              <a:t>as a thought experiment to illustrate a technical point about genetic relatedness and were thought unlikely to occur in the real world </a:t>
            </a:r>
            <a:endParaRPr lang="en-US" dirty="0" smtClean="0"/>
          </a:p>
          <a:p>
            <a:r>
              <a:rPr lang="en-US" dirty="0" smtClean="0"/>
              <a:t>Greenbeards </a:t>
            </a:r>
            <a:r>
              <a:rPr lang="en-US" dirty="0"/>
              <a:t>would often be hard to find, because frequency-dependent selection would usually drive them to fixation making their effects difficult to detect </a:t>
            </a:r>
            <a:endParaRPr lang="en-US" dirty="0" smtClean="0"/>
          </a:p>
          <a:p>
            <a:r>
              <a:rPr lang="en-US" dirty="0"/>
              <a:t>Greenbeards come from microorganisms </a:t>
            </a:r>
            <a:endParaRPr lang="en-US" dirty="0" smtClean="0"/>
          </a:p>
          <a:p>
            <a:r>
              <a:rPr lang="en-US" dirty="0"/>
              <a:t>The relatively simpler link between genotype and phenotype may prevent a decoupling of beard and behavior</a:t>
            </a:r>
          </a:p>
        </p:txBody>
      </p:sp>
      <p:sp>
        <p:nvSpPr>
          <p:cNvPr id="3" name="Title 2"/>
          <p:cNvSpPr>
            <a:spLocks noGrp="1"/>
          </p:cNvSpPr>
          <p:nvPr>
            <p:ph type="title"/>
          </p:nvPr>
        </p:nvSpPr>
        <p:spPr/>
        <p:txBody>
          <a:bodyPr/>
          <a:lstStyle/>
          <a:p>
            <a:r>
              <a:rPr lang="en-US" dirty="0" smtClean="0"/>
              <a:t>Why greenbeards are easily looked over </a:t>
            </a:r>
            <a:endParaRPr lang="en-US" dirty="0"/>
          </a:p>
        </p:txBody>
      </p:sp>
    </p:spTree>
    <p:extLst>
      <p:ext uri="{BB962C8B-B14F-4D97-AF65-F5344CB8AC3E}">
        <p14:creationId xmlns:p14="http://schemas.microsoft.com/office/powerpoint/2010/main" val="32924172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0999" y="1719070"/>
            <a:ext cx="8407893" cy="4834129"/>
          </a:xfrm>
        </p:spPr>
        <p:txBody>
          <a:bodyPr/>
          <a:lstStyle/>
          <a:p>
            <a:r>
              <a:rPr lang="en-US" dirty="0"/>
              <a:t>T</a:t>
            </a:r>
            <a:r>
              <a:rPr lang="en-US" dirty="0" smtClean="0"/>
              <a:t>he </a:t>
            </a:r>
            <a:r>
              <a:rPr lang="en-US" dirty="0"/>
              <a:t>greenbeard is selected against at low frequencies and only favored when it has established itself to a certain </a:t>
            </a:r>
            <a:r>
              <a:rPr lang="en-US" dirty="0" smtClean="0"/>
              <a:t>frequency</a:t>
            </a:r>
          </a:p>
          <a:p>
            <a:r>
              <a:rPr lang="en-US" dirty="0"/>
              <a:t>A potential complication with detecting greenbeards in nature is that, if they can invade, the selection will drive them to fixation which can obscure the greenbeard mechanism </a:t>
            </a:r>
            <a:endParaRPr lang="en-US" dirty="0" smtClean="0"/>
          </a:p>
          <a:p>
            <a:r>
              <a:rPr lang="en-US" dirty="0"/>
              <a:t>For obligate harming greenbeards, the harming action will continue to be expressed even in the absence of nongreenbeard victims </a:t>
            </a:r>
            <a:endParaRPr lang="en-US" dirty="0" smtClean="0"/>
          </a:p>
          <a:p>
            <a:r>
              <a:rPr lang="en-US" dirty="0"/>
              <a:t>For facultative harming greenbeards, once the gene has been driven to fixation there are no nongreenbeard individuals to elicit the harming behavior or to be harmed by this, is that phenotypic effects of the greenbeard gene disappear entirely </a:t>
            </a:r>
          </a:p>
        </p:txBody>
      </p:sp>
      <p:sp>
        <p:nvSpPr>
          <p:cNvPr id="3" name="Title 2"/>
          <p:cNvSpPr>
            <a:spLocks noGrp="1"/>
          </p:cNvSpPr>
          <p:nvPr>
            <p:ph type="title"/>
          </p:nvPr>
        </p:nvSpPr>
        <p:spPr/>
        <p:txBody>
          <a:bodyPr/>
          <a:lstStyle/>
          <a:p>
            <a:r>
              <a:rPr lang="en-US" dirty="0" smtClean="0"/>
              <a:t>Greenbeard dynamics </a:t>
            </a:r>
            <a:endParaRPr lang="en-US" dirty="0"/>
          </a:p>
        </p:txBody>
      </p:sp>
    </p:spTree>
    <p:extLst>
      <p:ext uri="{BB962C8B-B14F-4D97-AF65-F5344CB8AC3E}">
        <p14:creationId xmlns:p14="http://schemas.microsoft.com/office/powerpoint/2010/main" val="354766262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smtClean="0"/>
              <a:t>Misconception </a:t>
            </a:r>
            <a:endParaRPr lang="en-US" dirty="0"/>
          </a:p>
        </p:txBody>
      </p:sp>
      <p:sp>
        <p:nvSpPr>
          <p:cNvPr id="3" name="Content Placeholder 2"/>
          <p:cNvSpPr>
            <a:spLocks noGrp="1"/>
          </p:cNvSpPr>
          <p:nvPr>
            <p:ph sz="half" idx="2"/>
          </p:nvPr>
        </p:nvSpPr>
        <p:spPr/>
        <p:txBody>
          <a:bodyPr>
            <a:normAutofit/>
          </a:bodyPr>
          <a:lstStyle/>
          <a:p>
            <a:r>
              <a:rPr lang="en-US" sz="2000" dirty="0" smtClean="0"/>
              <a:t>There is one type of greenbeard</a:t>
            </a:r>
            <a:endParaRPr lang="en-US" sz="2000" dirty="0"/>
          </a:p>
          <a:p>
            <a:endParaRPr lang="en-US" sz="2000" dirty="0" smtClean="0"/>
          </a:p>
          <a:p>
            <a:r>
              <a:rPr lang="en-US" sz="2000" dirty="0"/>
              <a:t> </a:t>
            </a:r>
            <a:r>
              <a:rPr lang="en-US" sz="2000" dirty="0" smtClean="0"/>
              <a:t>Greenbeard effect is a type pf genetic kin recognition </a:t>
            </a:r>
            <a:endParaRPr lang="en-US" sz="2000" dirty="0"/>
          </a:p>
          <a:p>
            <a:endParaRPr lang="en-US" sz="2000" dirty="0" smtClean="0"/>
          </a:p>
          <a:p>
            <a:r>
              <a:rPr lang="en-US" sz="2000" dirty="0" smtClean="0"/>
              <a:t>Greenbeard effect provides a robust explanation for the cooperation in organisms </a:t>
            </a:r>
            <a:endParaRPr lang="en-US" sz="2000" dirty="0"/>
          </a:p>
        </p:txBody>
      </p:sp>
      <p:sp>
        <p:nvSpPr>
          <p:cNvPr id="4" name="Text Placeholder 3"/>
          <p:cNvSpPr>
            <a:spLocks noGrp="1"/>
          </p:cNvSpPr>
          <p:nvPr>
            <p:ph type="body" sz="quarter" idx="3"/>
          </p:nvPr>
        </p:nvSpPr>
        <p:spPr/>
        <p:txBody>
          <a:bodyPr/>
          <a:lstStyle/>
          <a:p>
            <a:r>
              <a:rPr lang="en-US" dirty="0" smtClean="0"/>
              <a:t>Reality </a:t>
            </a:r>
            <a:endParaRPr lang="en-US" dirty="0"/>
          </a:p>
        </p:txBody>
      </p:sp>
      <p:sp>
        <p:nvSpPr>
          <p:cNvPr id="5" name="Content Placeholder 4"/>
          <p:cNvSpPr>
            <a:spLocks noGrp="1"/>
          </p:cNvSpPr>
          <p:nvPr>
            <p:ph sz="quarter" idx="4"/>
          </p:nvPr>
        </p:nvSpPr>
        <p:spPr/>
        <p:txBody>
          <a:bodyPr>
            <a:normAutofit/>
          </a:bodyPr>
          <a:lstStyle/>
          <a:p>
            <a:r>
              <a:rPr lang="en-US" sz="2000" dirty="0" smtClean="0"/>
              <a:t>There are 4 types of greenbeards </a:t>
            </a:r>
            <a:endParaRPr lang="en-US" sz="2000" dirty="0"/>
          </a:p>
          <a:p>
            <a:endParaRPr lang="en-US" sz="2000" dirty="0" smtClean="0"/>
          </a:p>
          <a:p>
            <a:r>
              <a:rPr lang="en-US" sz="2000" dirty="0"/>
              <a:t> </a:t>
            </a:r>
            <a:r>
              <a:rPr lang="en-US" sz="2000" dirty="0" smtClean="0"/>
              <a:t>Greenbeard effect is distinct from kin recognition </a:t>
            </a:r>
          </a:p>
          <a:p>
            <a:r>
              <a:rPr lang="en-US" sz="2000" dirty="0" smtClean="0"/>
              <a:t> Greenbeard effect is vulnerable to “false beards” and hard to </a:t>
            </a:r>
            <a:r>
              <a:rPr lang="en-US" sz="2000" dirty="0" err="1" smtClean="0"/>
              <a:t>indentify</a:t>
            </a:r>
            <a:r>
              <a:rPr lang="en-US" sz="2000" dirty="0" smtClean="0"/>
              <a:t> </a:t>
            </a:r>
            <a:endParaRPr lang="en-US" sz="2000" dirty="0"/>
          </a:p>
        </p:txBody>
      </p:sp>
      <p:sp>
        <p:nvSpPr>
          <p:cNvPr id="6" name="Title 5"/>
          <p:cNvSpPr>
            <a:spLocks noGrp="1"/>
          </p:cNvSpPr>
          <p:nvPr>
            <p:ph type="title"/>
          </p:nvPr>
        </p:nvSpPr>
        <p:spPr/>
        <p:txBody>
          <a:bodyPr/>
          <a:lstStyle/>
          <a:p>
            <a:r>
              <a:rPr lang="en-US" dirty="0" err="1" smtClean="0"/>
              <a:t>Greenbeard’s</a:t>
            </a:r>
            <a:endParaRPr lang="en-US" dirty="0"/>
          </a:p>
        </p:txBody>
      </p:sp>
    </p:spTree>
    <p:extLst>
      <p:ext uri="{BB962C8B-B14F-4D97-AF65-F5344CB8AC3E}">
        <p14:creationId xmlns:p14="http://schemas.microsoft.com/office/powerpoint/2010/main" val="408539050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endParaRPr lang="en-US"/>
          </a:p>
        </p:txBody>
      </p:sp>
      <p:sp>
        <p:nvSpPr>
          <p:cNvPr id="3" name="Title 2"/>
          <p:cNvSpPr>
            <a:spLocks noGrp="1"/>
          </p:cNvSpPr>
          <p:nvPr>
            <p:ph type="title"/>
          </p:nvPr>
        </p:nvSpPr>
        <p:spPr/>
        <p:txBody>
          <a:bodyPr/>
          <a:lstStyle/>
          <a:p>
            <a:r>
              <a:rPr lang="en-US" dirty="0" smtClean="0"/>
              <a:t>Questions?     </a:t>
            </a:r>
            <a:endParaRPr lang="en-US" dirty="0"/>
          </a:p>
        </p:txBody>
      </p:sp>
    </p:spTree>
    <p:extLst>
      <p:ext uri="{BB962C8B-B14F-4D97-AF65-F5344CB8AC3E}">
        <p14:creationId xmlns:p14="http://schemas.microsoft.com/office/powerpoint/2010/main" val="244558867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Grid">
  <a:themeElements>
    <a:clrScheme name="Composite">
      <a:dk1>
        <a:sysClr val="windowText" lastClr="000000"/>
      </a:dk1>
      <a:lt1>
        <a:sysClr val="window" lastClr="FFFFFF"/>
      </a:lt1>
      <a:dk2>
        <a:srgbClr val="5B6973"/>
      </a:dk2>
      <a:lt2>
        <a:srgbClr val="E7ECED"/>
      </a:lt2>
      <a:accent1>
        <a:srgbClr val="98C723"/>
      </a:accent1>
      <a:accent2>
        <a:srgbClr val="59B0B9"/>
      </a:accent2>
      <a:accent3>
        <a:srgbClr val="DEAE00"/>
      </a:accent3>
      <a:accent4>
        <a:srgbClr val="B77BB4"/>
      </a:accent4>
      <a:accent5>
        <a:srgbClr val="E0773C"/>
      </a:accent5>
      <a:accent6>
        <a:srgbClr val="A98D63"/>
      </a:accent6>
      <a:hlink>
        <a:srgbClr val="26CBEC"/>
      </a:hlink>
      <a:folHlink>
        <a:srgbClr val="598C8C"/>
      </a:folHlink>
    </a:clrScheme>
    <a:fontScheme name="Grid">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Grid">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effectStyle>
        <a:effectStyle>
          <a:effectLst>
            <a:outerShdw blurRad="31750" dist="25400" dir="5400000" rotWithShape="0">
              <a:srgbClr val="000000">
                <a:alpha val="5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solidFill>
          <a:schemeClr val="phClr">
            <a:tint val="90000"/>
            <a:shade val="93000"/>
            <a:satMod val="150000"/>
          </a:schemeClr>
        </a:solidFill>
        <a:blipFill rotWithShape="1">
          <a:blip xmlns:r="http://schemas.openxmlformats.org/officeDocument/2006/relationships" r:embed="rId1">
            <a:duotone>
              <a:schemeClr val="phClr">
                <a:tint val="95000"/>
              </a:schemeClr>
              <a:schemeClr val="phClr">
                <a:shade val="93000"/>
                <a:satMod val="11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Grid</Template>
  <TotalTime>474</TotalTime>
  <Words>507</Words>
  <Application>Microsoft Office PowerPoint</Application>
  <PresentationFormat>On-screen Show (4:3)</PresentationFormat>
  <Paragraphs>79</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Grid</vt:lpstr>
      <vt:lpstr>Green Beard Effect </vt:lpstr>
      <vt:lpstr>Genes favored by natural selection </vt:lpstr>
      <vt:lpstr>Altruism </vt:lpstr>
      <vt:lpstr>So what is altruism? </vt:lpstr>
      <vt:lpstr>Two forms of altruism </vt:lpstr>
      <vt:lpstr>greenbeard effect?</vt:lpstr>
      <vt:lpstr>Key Difference Between kin recognition and green beard effect</vt:lpstr>
      <vt:lpstr>Why is this effect important? </vt:lpstr>
      <vt:lpstr>As it turns out… there is  4 types of green beards</vt:lpstr>
      <vt:lpstr>Facultative-helping </vt:lpstr>
      <vt:lpstr>Obligate-helping</vt:lpstr>
      <vt:lpstr>Facultative-Harming </vt:lpstr>
      <vt:lpstr>Obligate-harming </vt:lpstr>
      <vt:lpstr>Why greenbeards are easily looked over </vt:lpstr>
      <vt:lpstr>Greenbeard dynamics </vt:lpstr>
      <vt:lpstr>Greenbeard’s</vt:lpstr>
      <vt:lpstr>Questions?     </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Beard Effect</dc:title>
  <dc:creator>Kellie</dc:creator>
  <cp:lastModifiedBy>Kellie</cp:lastModifiedBy>
  <cp:revision>20</cp:revision>
  <dcterms:created xsi:type="dcterms:W3CDTF">2016-03-02T02:05:55Z</dcterms:created>
  <dcterms:modified xsi:type="dcterms:W3CDTF">2016-05-06T14:32:44Z</dcterms:modified>
</cp:coreProperties>
</file>